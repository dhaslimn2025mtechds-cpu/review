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21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7699EE-3C95-471D-8C18-0ED5C13836C6}" v="1" dt="2026-10-01T03:38:08.904"/>
  </p1510:revLst>
</p1510:revInfo>
</file>

<file path=ppt/tableStyles.xml><?xml version="1.0" encoding="utf-8"?>
<a:tblStyleLst xmlns:a="http://schemas.openxmlformats.org/drawingml/2006/main" def="{7A6AE9A8-6298-4076-9231-B7FAEA5409DA}">
  <a:tblStyle styleId="{7A6AE9A8-6298-4076-9231-B7FAEA5409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0C8B7E1-8674-4730-B2C8-AEA6B080A4A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3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slim N" userId="acccf8b7-fa12-4fbd-b7ec-4d5d48783f60" providerId="ADAL" clId="{4488313D-7120-4382-A252-FD61FA83AD45}"/>
    <pc:docChg chg="addSld modSld sldOrd">
      <pc:chgData name="Dhaslim N" userId="acccf8b7-fa12-4fbd-b7ec-4d5d48783f60" providerId="ADAL" clId="{4488313D-7120-4382-A252-FD61FA83AD45}" dt="2026-10-01T03:40:03.826" v="16"/>
      <pc:docMkLst>
        <pc:docMk/>
      </pc:docMkLst>
      <pc:sldChg chg="ord">
        <pc:chgData name="Dhaslim N" userId="acccf8b7-fa12-4fbd-b7ec-4d5d48783f60" providerId="ADAL" clId="{4488313D-7120-4382-A252-FD61FA83AD45}" dt="2026-10-01T03:39:10.872" v="8"/>
        <pc:sldMkLst>
          <pc:docMk/>
          <pc:sldMk cId="0" sldId="256"/>
        </pc:sldMkLst>
      </pc:sldChg>
      <pc:sldChg chg="modSp add ord modNotes">
        <pc:chgData name="Dhaslim N" userId="acccf8b7-fa12-4fbd-b7ec-4d5d48783f60" providerId="ADAL" clId="{4488313D-7120-4382-A252-FD61FA83AD45}" dt="2026-10-01T03:39:48.062" v="14"/>
        <pc:sldMkLst>
          <pc:docMk/>
          <pc:sldMk cId="2467326137" sldId="265"/>
        </pc:sldMkLst>
        <pc:graphicFrameChg chg="mod">
          <ac:chgData name="Dhaslim N" userId="acccf8b7-fa12-4fbd-b7ec-4d5d48783f60" providerId="ADAL" clId="{4488313D-7120-4382-A252-FD61FA83AD45}" dt="2026-10-01T03:38:08.881" v="0"/>
          <ac:graphicFrameMkLst>
            <pc:docMk/>
            <pc:sldMk cId="2467326137" sldId="265"/>
            <ac:graphicFrameMk id="66" creationId="{00000000-0000-0000-0000-000000000000}"/>
          </ac:graphicFrameMkLst>
        </pc:graphicFrameChg>
      </pc:sldChg>
      <pc:sldChg chg="add">
        <pc:chgData name="Dhaslim N" userId="acccf8b7-fa12-4fbd-b7ec-4d5d48783f60" providerId="ADAL" clId="{4488313D-7120-4382-A252-FD61FA83AD45}" dt="2026-10-01T03:38:08.881" v="0"/>
        <pc:sldMkLst>
          <pc:docMk/>
          <pc:sldMk cId="1280839495" sldId="266"/>
        </pc:sldMkLst>
      </pc:sldChg>
      <pc:sldChg chg="add">
        <pc:chgData name="Dhaslim N" userId="acccf8b7-fa12-4fbd-b7ec-4d5d48783f60" providerId="ADAL" clId="{4488313D-7120-4382-A252-FD61FA83AD45}" dt="2026-10-01T03:38:08.881" v="0"/>
        <pc:sldMkLst>
          <pc:docMk/>
          <pc:sldMk cId="860512419" sldId="267"/>
        </pc:sldMkLst>
      </pc:sldChg>
      <pc:sldChg chg="add">
        <pc:chgData name="Dhaslim N" userId="acccf8b7-fa12-4fbd-b7ec-4d5d48783f60" providerId="ADAL" clId="{4488313D-7120-4382-A252-FD61FA83AD45}" dt="2026-10-01T03:38:08.881" v="0"/>
        <pc:sldMkLst>
          <pc:docMk/>
          <pc:sldMk cId="2016497981" sldId="268"/>
        </pc:sldMkLst>
      </pc:sldChg>
      <pc:sldChg chg="modSp add modNotes">
        <pc:chgData name="Dhaslim N" userId="acccf8b7-fa12-4fbd-b7ec-4d5d48783f60" providerId="ADAL" clId="{4488313D-7120-4382-A252-FD61FA83AD45}" dt="2026-10-01T03:38:08.881" v="0"/>
        <pc:sldMkLst>
          <pc:docMk/>
          <pc:sldMk cId="305674200" sldId="269"/>
        </pc:sldMkLst>
        <pc:graphicFrameChg chg="mod">
          <ac:chgData name="Dhaslim N" userId="acccf8b7-fa12-4fbd-b7ec-4d5d48783f60" providerId="ADAL" clId="{4488313D-7120-4382-A252-FD61FA83AD45}" dt="2026-10-01T03:38:08.881" v="0"/>
          <ac:graphicFrameMkLst>
            <pc:docMk/>
            <pc:sldMk cId="305674200" sldId="269"/>
            <ac:graphicFrameMk id="100" creationId="{00000000-0000-0000-0000-000000000000}"/>
          </ac:graphicFrameMkLst>
        </pc:graphicFrameChg>
        <pc:graphicFrameChg chg="mod">
          <ac:chgData name="Dhaslim N" userId="acccf8b7-fa12-4fbd-b7ec-4d5d48783f60" providerId="ADAL" clId="{4488313D-7120-4382-A252-FD61FA83AD45}" dt="2026-10-01T03:38:08.881" v="0"/>
          <ac:graphicFrameMkLst>
            <pc:docMk/>
            <pc:sldMk cId="305674200" sldId="269"/>
            <ac:graphicFrameMk id="101" creationId="{00000000-0000-0000-0000-000000000000}"/>
          </ac:graphicFrameMkLst>
        </pc:graphicFrameChg>
      </pc:sldChg>
      <pc:sldChg chg="add">
        <pc:chgData name="Dhaslim N" userId="acccf8b7-fa12-4fbd-b7ec-4d5d48783f60" providerId="ADAL" clId="{4488313D-7120-4382-A252-FD61FA83AD45}" dt="2026-10-01T03:38:08.881" v="0"/>
        <pc:sldMkLst>
          <pc:docMk/>
          <pc:sldMk cId="4289591132" sldId="270"/>
        </pc:sldMkLst>
      </pc:sldChg>
      <pc:sldChg chg="add">
        <pc:chgData name="Dhaslim N" userId="acccf8b7-fa12-4fbd-b7ec-4d5d48783f60" providerId="ADAL" clId="{4488313D-7120-4382-A252-FD61FA83AD45}" dt="2026-10-01T03:38:08.881" v="0"/>
        <pc:sldMkLst>
          <pc:docMk/>
          <pc:sldMk cId="4185263857" sldId="271"/>
        </pc:sldMkLst>
      </pc:sldChg>
      <pc:sldChg chg="add">
        <pc:chgData name="Dhaslim N" userId="acccf8b7-fa12-4fbd-b7ec-4d5d48783f60" providerId="ADAL" clId="{4488313D-7120-4382-A252-FD61FA83AD45}" dt="2026-10-01T03:38:08.881" v="0"/>
        <pc:sldMkLst>
          <pc:docMk/>
          <pc:sldMk cId="2609321606" sldId="272"/>
        </pc:sldMkLst>
      </pc:sldChg>
      <pc:sldChg chg="add ord modNotes">
        <pc:chgData name="Dhaslim N" userId="acccf8b7-fa12-4fbd-b7ec-4d5d48783f60" providerId="ADAL" clId="{4488313D-7120-4382-A252-FD61FA83AD45}" dt="2026-10-01T03:40:03.826" v="16"/>
        <pc:sldMkLst>
          <pc:docMk/>
          <pc:sldMk cId="868078218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9070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6901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0957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225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9570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04461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041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490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945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sz="3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695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5215644"/>
            <a:ext cx="12191995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233000" y="6472900"/>
            <a:ext cx="800375" cy="2965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 descr="LTM Limited (Formerly LTIMindtree Limited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9750" y="6584400"/>
            <a:ext cx="611850" cy="27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26446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5"/>
            <a:ext cx="3033000" cy="4128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36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tabLst/>
              <a:defRPr/>
            </a:pPr>
            <a:endParaRPr kumimoji="0" sz="5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T9951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DHASLIM N (251011007)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tabLst/>
              <a:defRPr/>
            </a:pPr>
            <a:endParaRPr kumimoji="0" sz="5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tabLst/>
              <a:defRPr/>
            </a:pPr>
            <a:endParaRPr kumimoji="0" sz="5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7326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760600" cy="4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AI-based system for conducting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real-time technical mock interviews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voice interaction, speech-to-text, and instant answer evaluation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Agentic AI and RAG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intelligent and context-aware interview assessment.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AEGIE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adaptive questioning and personalized feedback.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Research compares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Baseline, RAG, and AEGIE v2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using quantitative and statistical evaluation.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3444178" y="57025"/>
            <a:ext cx="8747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083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3" name="Google Shape;83;p17"/>
          <p:cNvSpPr txBox="1"/>
          <p:nvPr/>
        </p:nvSpPr>
        <p:spPr>
          <a:xfrm>
            <a:off x="3216575" y="57025"/>
            <a:ext cx="897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93475" y="1149050"/>
            <a:ext cx="10624200" cy="49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Develop a real-time AI-based voice interview system for technical interview practice.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Implement adaptive question selection based on candidate performance.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Integrate Agentic AI and RAG for intelligent answer evaluation and feedback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Develop AEGIE to improve personalized and question-wise interview assessment.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●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Evaluate Baseline, RAG, and AEGIE v2 using research metrics and statistical tests.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5583D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5583D1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051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54400" cy="5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technical interviews across four different job roles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Conducts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real-time voice-based interviews with speech-to-text conversion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adaptive questions based on the candidate’s performance level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technical answers, clarity, filler words, and voice delivery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Generates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instant feedback, performance reports, and research evaluation results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Scope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2867629" y="57025"/>
            <a:ext cx="93243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649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3550375" y="57025"/>
            <a:ext cx="864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 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" name="Google Shape;100;p19"/>
          <p:cNvGraphicFramePr/>
          <p:nvPr/>
        </p:nvGraphicFramePr>
        <p:xfrm>
          <a:off x="1103375" y="1234450"/>
          <a:ext cx="10287000" cy="54811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4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Based Mock Interview System Using Natural Language Processing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K. Senthilkumar, S. Ranjith, M. Sivasakthi, R. Ramvignesh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– ICoACT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NLP, Speech-to-Text, Text-to-Speech and adaptive assessment for AI mock interviews.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Survey of AI-Driven Mock Interviews Using GenAI and Machine Learning (InterviewX)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Jyotsna Vilas Barpute, Onkar Wattamwar, Suhelali Pakjade, Sanika Diwate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– ICUIS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RAG, GenAI and personalized feedback, directly supporting our RAG-based interview approach. 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Interview Training System Using Multimodal Behavior Analysis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 Takeuchi, T. Koda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2021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– ACIIW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multimodal behavior for automated interview assessment</a:t>
                      </a:r>
                      <a:endParaRPr sz="14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1" name="Google Shape;101;p19"/>
          <p:cNvGraphicFramePr/>
          <p:nvPr/>
        </p:nvGraphicFramePr>
        <p:xfrm>
          <a:off x="304800" y="304800"/>
          <a:ext cx="208250" cy="3962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7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682775" y="1271225"/>
            <a:ext cx="10787700" cy="50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AI-based mock interviews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provide automated and realistic interview practice.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NLP and voice technologies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help analyze candidate answers and communication.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 and adaptive AI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improve question generation and personalized feedback.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Existing systems lack an integrated approach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combining Agentic AI, RAG, voice analysis, and adaptive evaluation.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09" name="Google Shape;109;p20"/>
          <p:cNvSpPr txBox="1"/>
          <p:nvPr/>
        </p:nvSpPr>
        <p:spPr>
          <a:xfrm>
            <a:off x="3444178" y="57025"/>
            <a:ext cx="8747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959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713100" y="1271225"/>
            <a:ext cx="11258100" cy="52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Dataset Size: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Contains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70 interview questions for each selected job role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covering different technical areas.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Job Roles: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Includes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Data Scientist, Machine Learning Engineer, Software Developer, and Data Analyst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interview questions.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Question Categories: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Covers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Python, SQL, Statistics, ML Theory, A/B Testing, NLP, Deep Learning, Feature Engineering, and System Design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500"/>
              <a:buFont typeface="Calibri"/>
              <a:buChar char="●"/>
            </a:pP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Difficulty Levels: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Questions are divided into </a:t>
            </a:r>
            <a:r>
              <a:rPr lang="en-US" sz="25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Beginner, Intermediate, and Advanced</a:t>
            </a:r>
            <a:r>
              <a:rPr lang="en-US" sz="2500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, allowing AEGIE to select questions adaptively based on candidate performance.</a:t>
            </a:r>
            <a:endParaRPr sz="2500"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7" name="Google Shape;117;p21"/>
          <p:cNvSpPr txBox="1"/>
          <p:nvPr/>
        </p:nvSpPr>
        <p:spPr>
          <a:xfrm>
            <a:off x="3702103" y="57025"/>
            <a:ext cx="8490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526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819325" y="1271225"/>
            <a:ext cx="10060800" cy="50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1 – Voice Interview: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Conducts real-time voice-based mock interviews.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2 – Adaptive Questioning: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Changes question difficulty based on candidate performance.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3 – AEGIE Evaluation: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Evaluates answers and provides scores with instant feedback.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4 – Research &amp; MLOps: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Compares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Baseline, RAG, and AEGIE v2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and monitors performance using research metrics.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>
              <a:solidFill>
                <a:srgbClr val="5583D1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5" name="Google Shape;125;p22"/>
          <p:cNvSpPr txBox="1"/>
          <p:nvPr/>
        </p:nvSpPr>
        <p:spPr>
          <a:xfrm>
            <a:off x="3262103" y="57025"/>
            <a:ext cx="89298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932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body" idx="2"/>
          </p:nvPr>
        </p:nvSpPr>
        <p:spPr>
          <a:xfrm>
            <a:off x="288025" y="629525"/>
            <a:ext cx="105372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3"/>
          <p:cNvCxnSpPr>
            <a:stCxn id="130" idx="1"/>
            <a:endCxn id="130" idx="1"/>
          </p:cNvCxnSpPr>
          <p:nvPr/>
        </p:nvCxnSpPr>
        <p:spPr>
          <a:xfrm>
            <a:off x="288025" y="10142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2" name="Google Shape;132;p23"/>
          <p:cNvCxnSpPr>
            <a:stCxn id="130" idx="1"/>
            <a:endCxn id="130" idx="1"/>
          </p:cNvCxnSpPr>
          <p:nvPr/>
        </p:nvCxnSpPr>
        <p:spPr>
          <a:xfrm>
            <a:off x="288025" y="101427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3" name="Google Shape;133;p23"/>
          <p:cNvCxnSpPr/>
          <p:nvPr/>
        </p:nvCxnSpPr>
        <p:spPr>
          <a:xfrm>
            <a:off x="288025" y="1261875"/>
            <a:ext cx="6556200" cy="411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410025" y="1302975"/>
            <a:ext cx="11060400" cy="57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64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Improved Evaluation: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Provides accurate question-wise interview scores and feedback.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Adaptive Interview: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Adjusts question difficulty based on the candidate’s performance.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Better Performance: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AEGIE v2 is expected to perform better than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Baseline and RAG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approaches.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064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Candidate Improvement: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Helps candidates identify </a:t>
            </a: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strengths, weak areas, and communication issues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3535200" y="-75875"/>
            <a:ext cx="8693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AEGIE: A Research Framework for Adaptive Agentic AI Based Voice Interview Evaluation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807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0" y="1177574"/>
            <a:ext cx="3033000" cy="405000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5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 - Customer Complaint Classification &amp; Resolution Intelligence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T9951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DHASLIM N (251011007)</a:t>
            </a: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 (2025-2027)</a:t>
            </a:r>
            <a:endParaRPr sz="2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{7A6AE9A8-6298-4076-9231-B7FAEA5409DA}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 u="none" strike="noStrike" cap="none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23793" y="5226092"/>
            <a:ext cx="4201139" cy="210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851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Focuses on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customer complaint management for an e-commerce company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Automatically classifies complaints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to retrieve relevant resolution suggestions.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routing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reliable complaint handling.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Integrates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ML, RAG and MLOps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into a complete complaint resolution framework.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4354525" y="0"/>
            <a:ext cx="7837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ServiceSense AI - Customer Complaint Classification &amp; Resolution Intelligence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an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automated customer complaint classification system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Compare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performance.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 and FAISS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relevant resolution retrieval.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Develop 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Hybrid ML + RAG framework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Evaluate the system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Accuracy, F1-score and confidence scores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400" b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1001399" y="57025"/>
            <a:ext cx="1119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ServiceSense AI - Customer Complaint Classification &amp; Resolution Intelligence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Covers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e-commerce customer complaints and support requests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Identifies the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complaint category and customer intent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automatically.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Retrieves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relevant solutions using RAG and FAISS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Routes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low-confidence complaints for manual review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Flask-based web application for real-time analysis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Supports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research evaluation through ML, RAG and Hybrid model comparison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3110378" y="57025"/>
            <a:ext cx="908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99" name="Google Shape;99;p19"/>
          <p:cNvSpPr txBox="1"/>
          <p:nvPr/>
        </p:nvSpPr>
        <p:spPr>
          <a:xfrm>
            <a:off x="4237477" y="0"/>
            <a:ext cx="7731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412450" y="2594500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-1668975" y="3717275"/>
            <a:ext cx="8739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9"/>
          <p:cNvGraphicFramePr/>
          <p:nvPr/>
        </p:nvGraphicFramePr>
        <p:xfrm>
          <a:off x="740075" y="1331900"/>
          <a:ext cx="11016600" cy="4922700"/>
        </p:xfrm>
        <a:graphic>
          <a:graphicData uri="http://schemas.openxmlformats.org/drawingml/2006/table">
            <a:tbl>
              <a:tblPr>
                <a:noFill/>
                <a:tableStyleId>{30C8B7E1-8674-4730-B2C8-AEA6B080A4AC}</a:tableStyleId>
              </a:tblPr>
              <a:tblGrid>
                <a:gridCol w="8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2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Conference / Journal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</a:t>
                      </a:r>
                      <a:endParaRPr sz="20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 of RAG in Chatbot Systems for Enhanced Real-Time Customer Support in E-Commerce.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J. Benita, K. V. C. Tej, E. Vinay Kumar, G. Venkata Subbarao et al.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ICACRS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RAG for e-commerce customer support and contextual responses.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 of Customer Complaints: TF-IDF Approaches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Doni Purnama Alamsyah, Toni Arifin, Yudi Ramdhani, Febriansyah A. Hidayat et al.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CONIT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Uses TF-IDF for automated complaint classification.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Topic-Aware Multi-Class Classification for Financial Complaints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Authors listed in publication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</a:t>
                      </a:r>
                      <a:endParaRPr sz="15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70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Compares Logistic Regression, Random Forest and other ML models for complaints.</a:t>
                      </a:r>
                      <a:endParaRPr sz="1600" b="1" u="none" strike="noStrike" cap="none">
                        <a:solidFill>
                          <a:srgbClr val="0070C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539800" cy="4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Existing studies show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ML effectively classifies customer complaints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improves retrieval of relevant customer-support solutions.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Hybrid approaches improve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classification and resolution support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Existing systems have limitations in handling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low-confidence complaints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ServiceSense AI addresses this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ML + RAG with manual review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0" name="Google Shape;110;p20"/>
          <p:cNvSpPr txBox="1"/>
          <p:nvPr/>
        </p:nvSpPr>
        <p:spPr>
          <a:xfrm>
            <a:off x="4111775" y="57025"/>
            <a:ext cx="808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256000" y="1271225"/>
            <a:ext cx="11609100" cy="47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26,872 customer complaint records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are used for developing and evaluating the proposed system.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are considered as baseline ML models for complaint classification.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Hybrid ML + RAG with FAISS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is designed to classify complaints and retrieve relevant resolution information.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decision mechanism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is incorporated to route uncertain complaints for manual review.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18" name="Google Shape;118;p21"/>
          <p:cNvSpPr txBox="1"/>
          <p:nvPr/>
        </p:nvSpPr>
        <p:spPr>
          <a:xfrm>
            <a:off x="3666303" y="0"/>
            <a:ext cx="852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1: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Customer complaint dataset preprocessing and analysis.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2: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Complaint classification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Logistic Regression and Random Forest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3: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Resolution retrieval using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RAG and FAISS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4: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Confidence-Aware Hybrid ML + RAG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decision framework.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Module 5: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Flask, MLOps and PythonAnywhere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deployment.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26" name="Google Shape;126;p22"/>
          <p:cNvSpPr txBox="1"/>
          <p:nvPr/>
        </p:nvSpPr>
        <p:spPr>
          <a:xfrm>
            <a:off x="4263500" y="57025"/>
            <a:ext cx="792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ServiceSense AI - Customer Complaint Classification &amp; Resolution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256000" y="1271275"/>
            <a:ext cx="11430000" cy="41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Achieves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accurate automated classification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of customer complaints.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relevant resolution suggestions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using RAG.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Identifies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low-confidence cases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for manual review.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Reduces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manual effort and complaint resolution time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Char char="●"/>
            </a:pP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Provides a </a:t>
            </a:r>
            <a:r>
              <a:rPr lang="en-US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deployable intelligent customer-support system</a:t>
            </a:r>
            <a:r>
              <a:rPr lang="en-US" b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1C3898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36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134" name="Google Shape;134;p23"/>
          <p:cNvSpPr txBox="1"/>
          <p:nvPr/>
        </p:nvSpPr>
        <p:spPr>
          <a:xfrm>
            <a:off x="2685554" y="57025"/>
            <a:ext cx="9506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ServiceSense AI - Customer Complaint Classification &amp; Resolution Intelligence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1321</Words>
  <Application>Microsoft Office PowerPoint</Application>
  <PresentationFormat>Widescreen</PresentationFormat>
  <Paragraphs>186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Dhaslim N</cp:lastModifiedBy>
  <cp:revision>1</cp:revision>
  <dcterms:modified xsi:type="dcterms:W3CDTF">2026-10-01T03:41:42Z</dcterms:modified>
</cp:coreProperties>
</file>